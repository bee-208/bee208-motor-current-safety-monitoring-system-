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1" r:id="rId15"/>
    <p:sldId id="269" r:id="rId16"/>
    <p:sldId id="27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3135CB0-3F33-412F-BFAF-413702F4B82B}" type="datetimeFigureOut">
              <a:rPr lang="en-GH" smtClean="0"/>
              <a:t>10/07/2026</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8FD39427-464A-4676-901A-0F94A37E035A}" type="slidenum">
              <a:rPr lang="en-GH" smtClean="0"/>
              <a:t>‹#›</a:t>
            </a:fld>
            <a:endParaRPr lang="en-GH"/>
          </a:p>
        </p:txBody>
      </p:sp>
    </p:spTree>
    <p:extLst>
      <p:ext uri="{BB962C8B-B14F-4D97-AF65-F5344CB8AC3E}">
        <p14:creationId xmlns:p14="http://schemas.microsoft.com/office/powerpoint/2010/main" val="989666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63135CB0-3F33-412F-BFAF-413702F4B82B}" type="datetimeFigureOut">
              <a:rPr lang="en-GH" smtClean="0"/>
              <a:t>10/07/2026</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8FD39427-464A-4676-901A-0F94A37E035A}" type="slidenum">
              <a:rPr lang="en-GH" smtClean="0"/>
              <a:t>‹#›</a:t>
            </a:fld>
            <a:endParaRPr lang="en-GH"/>
          </a:p>
        </p:txBody>
      </p:sp>
    </p:spTree>
    <p:extLst>
      <p:ext uri="{BB962C8B-B14F-4D97-AF65-F5344CB8AC3E}">
        <p14:creationId xmlns:p14="http://schemas.microsoft.com/office/powerpoint/2010/main" val="4253934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135CB0-3F33-412F-BFAF-413702F4B82B}" type="datetimeFigureOut">
              <a:rPr lang="en-GH" smtClean="0"/>
              <a:t>10/07/2026</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8FD39427-464A-4676-901A-0F94A37E035A}" type="slidenum">
              <a:rPr lang="en-GH" smtClean="0"/>
              <a:t>‹#›</a:t>
            </a:fld>
            <a:endParaRPr lang="en-GH"/>
          </a:p>
        </p:txBody>
      </p:sp>
    </p:spTree>
    <p:extLst>
      <p:ext uri="{BB962C8B-B14F-4D97-AF65-F5344CB8AC3E}">
        <p14:creationId xmlns:p14="http://schemas.microsoft.com/office/powerpoint/2010/main" val="28215603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3135CB0-3F33-412F-BFAF-413702F4B82B}" type="datetimeFigureOut">
              <a:rPr lang="en-GH" smtClean="0"/>
              <a:t>10/07/2026</a:t>
            </a:fld>
            <a:endParaRPr lang="en-GH"/>
          </a:p>
        </p:txBody>
      </p:sp>
      <p:sp>
        <p:nvSpPr>
          <p:cNvPr id="6" name="Footer Placeholder 5"/>
          <p:cNvSpPr>
            <a:spLocks noGrp="1"/>
          </p:cNvSpPr>
          <p:nvPr>
            <p:ph type="ftr" sz="quarter" idx="11"/>
          </p:nvPr>
        </p:nvSpPr>
        <p:spPr/>
        <p:txBody>
          <a:bodyPr/>
          <a:lstStyle/>
          <a:p>
            <a:endParaRPr lang="en-GH"/>
          </a:p>
        </p:txBody>
      </p:sp>
      <p:sp>
        <p:nvSpPr>
          <p:cNvPr id="7" name="Slide Number Placeholder 6"/>
          <p:cNvSpPr>
            <a:spLocks noGrp="1"/>
          </p:cNvSpPr>
          <p:nvPr>
            <p:ph type="sldNum" sz="quarter" idx="12"/>
          </p:nvPr>
        </p:nvSpPr>
        <p:spPr/>
        <p:txBody>
          <a:bodyPr/>
          <a:lstStyle/>
          <a:p>
            <a:fld id="{8FD39427-464A-4676-901A-0F94A37E035A}" type="slidenum">
              <a:rPr lang="en-GH" smtClean="0"/>
              <a:t>‹#›</a:t>
            </a:fld>
            <a:endParaRPr lang="en-GH"/>
          </a:p>
        </p:txBody>
      </p:sp>
    </p:spTree>
    <p:extLst>
      <p:ext uri="{BB962C8B-B14F-4D97-AF65-F5344CB8AC3E}">
        <p14:creationId xmlns:p14="http://schemas.microsoft.com/office/powerpoint/2010/main" val="2866031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3135CB0-3F33-412F-BFAF-413702F4B82B}" type="datetimeFigureOut">
              <a:rPr lang="en-GH" smtClean="0"/>
              <a:t>10/07/2026</a:t>
            </a:fld>
            <a:endParaRPr lang="en-GH"/>
          </a:p>
        </p:txBody>
      </p:sp>
      <p:sp>
        <p:nvSpPr>
          <p:cNvPr id="8" name="Footer Placeholder 7"/>
          <p:cNvSpPr>
            <a:spLocks noGrp="1"/>
          </p:cNvSpPr>
          <p:nvPr>
            <p:ph type="ftr" sz="quarter" idx="11"/>
          </p:nvPr>
        </p:nvSpPr>
        <p:spPr/>
        <p:txBody>
          <a:bodyPr/>
          <a:lstStyle/>
          <a:p>
            <a:endParaRPr lang="en-GH"/>
          </a:p>
        </p:txBody>
      </p:sp>
      <p:sp>
        <p:nvSpPr>
          <p:cNvPr id="9" name="Slide Number Placeholder 8"/>
          <p:cNvSpPr>
            <a:spLocks noGrp="1"/>
          </p:cNvSpPr>
          <p:nvPr>
            <p:ph type="sldNum" sz="quarter" idx="12"/>
          </p:nvPr>
        </p:nvSpPr>
        <p:spPr/>
        <p:txBody>
          <a:bodyPr/>
          <a:lstStyle/>
          <a:p>
            <a:fld id="{8FD39427-464A-4676-901A-0F94A37E035A}" type="slidenum">
              <a:rPr lang="en-GH" smtClean="0"/>
              <a:t>‹#›</a:t>
            </a:fld>
            <a:endParaRPr lang="en-GH"/>
          </a:p>
        </p:txBody>
      </p:sp>
    </p:spTree>
    <p:extLst>
      <p:ext uri="{BB962C8B-B14F-4D97-AF65-F5344CB8AC3E}">
        <p14:creationId xmlns:p14="http://schemas.microsoft.com/office/powerpoint/2010/main" val="2852802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63135CB0-3F33-412F-BFAF-413702F4B82B}" type="datetimeFigureOut">
              <a:rPr lang="en-GH" smtClean="0"/>
              <a:t>10/07/2026</a:t>
            </a:fld>
            <a:endParaRPr lang="en-GH"/>
          </a:p>
        </p:txBody>
      </p:sp>
      <p:sp>
        <p:nvSpPr>
          <p:cNvPr id="5" name="Footer Placeholder 3"/>
          <p:cNvSpPr>
            <a:spLocks noGrp="1"/>
          </p:cNvSpPr>
          <p:nvPr>
            <p:ph type="ftr" sz="quarter" idx="11"/>
          </p:nvPr>
        </p:nvSpPr>
        <p:spPr/>
        <p:txBody>
          <a:bodyPr/>
          <a:lstStyle/>
          <a:p>
            <a:endParaRPr lang="en-GH"/>
          </a:p>
        </p:txBody>
      </p:sp>
      <p:sp>
        <p:nvSpPr>
          <p:cNvPr id="6" name="Slide Number Placeholder 4"/>
          <p:cNvSpPr>
            <a:spLocks noGrp="1"/>
          </p:cNvSpPr>
          <p:nvPr>
            <p:ph type="sldNum" sz="quarter" idx="12"/>
          </p:nvPr>
        </p:nvSpPr>
        <p:spPr/>
        <p:txBody>
          <a:bodyPr/>
          <a:lstStyle/>
          <a:p>
            <a:fld id="{8FD39427-464A-4676-901A-0F94A37E035A}" type="slidenum">
              <a:rPr lang="en-GH" smtClean="0"/>
              <a:t>‹#›</a:t>
            </a:fld>
            <a:endParaRPr lang="en-GH"/>
          </a:p>
        </p:txBody>
      </p:sp>
    </p:spTree>
    <p:extLst>
      <p:ext uri="{BB962C8B-B14F-4D97-AF65-F5344CB8AC3E}">
        <p14:creationId xmlns:p14="http://schemas.microsoft.com/office/powerpoint/2010/main" val="640476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63135CB0-3F33-412F-BFAF-413702F4B82B}" type="datetimeFigureOut">
              <a:rPr lang="en-GH" smtClean="0"/>
              <a:t>10/07/2026</a:t>
            </a:fld>
            <a:endParaRPr lang="en-GH"/>
          </a:p>
        </p:txBody>
      </p:sp>
      <p:sp>
        <p:nvSpPr>
          <p:cNvPr id="5" name="Footer Placeholder 2"/>
          <p:cNvSpPr>
            <a:spLocks noGrp="1"/>
          </p:cNvSpPr>
          <p:nvPr>
            <p:ph type="ftr" sz="quarter" idx="11"/>
          </p:nvPr>
        </p:nvSpPr>
        <p:spPr/>
        <p:txBody>
          <a:bodyPr/>
          <a:lstStyle/>
          <a:p>
            <a:endParaRPr lang="en-GH"/>
          </a:p>
        </p:txBody>
      </p:sp>
      <p:sp>
        <p:nvSpPr>
          <p:cNvPr id="6" name="Slide Number Placeholder 3"/>
          <p:cNvSpPr>
            <a:spLocks noGrp="1"/>
          </p:cNvSpPr>
          <p:nvPr>
            <p:ph type="sldNum" sz="quarter" idx="12"/>
          </p:nvPr>
        </p:nvSpPr>
        <p:spPr/>
        <p:txBody>
          <a:bodyPr/>
          <a:lstStyle/>
          <a:p>
            <a:fld id="{8FD39427-464A-4676-901A-0F94A37E035A}" type="slidenum">
              <a:rPr lang="en-GH" smtClean="0"/>
              <a:t>‹#›</a:t>
            </a:fld>
            <a:endParaRPr lang="en-GH"/>
          </a:p>
        </p:txBody>
      </p:sp>
    </p:spTree>
    <p:extLst>
      <p:ext uri="{BB962C8B-B14F-4D97-AF65-F5344CB8AC3E}">
        <p14:creationId xmlns:p14="http://schemas.microsoft.com/office/powerpoint/2010/main" val="17405596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63135CB0-3F33-412F-BFAF-413702F4B82B}" type="datetimeFigureOut">
              <a:rPr lang="en-GH" smtClean="0"/>
              <a:t>10/07/2026</a:t>
            </a:fld>
            <a:endParaRPr lang="en-GH"/>
          </a:p>
        </p:txBody>
      </p:sp>
      <p:sp>
        <p:nvSpPr>
          <p:cNvPr id="5" name="Footer Placeholder 5"/>
          <p:cNvSpPr>
            <a:spLocks noGrp="1"/>
          </p:cNvSpPr>
          <p:nvPr>
            <p:ph type="ftr" sz="quarter" idx="11"/>
          </p:nvPr>
        </p:nvSpPr>
        <p:spPr/>
        <p:txBody>
          <a:bodyPr/>
          <a:lstStyle/>
          <a:p>
            <a:endParaRPr lang="en-GH"/>
          </a:p>
        </p:txBody>
      </p:sp>
      <p:sp>
        <p:nvSpPr>
          <p:cNvPr id="6" name="Slide Number Placeholder 6"/>
          <p:cNvSpPr>
            <a:spLocks noGrp="1"/>
          </p:cNvSpPr>
          <p:nvPr>
            <p:ph type="sldNum" sz="quarter" idx="12"/>
          </p:nvPr>
        </p:nvSpPr>
        <p:spPr/>
        <p:txBody>
          <a:bodyPr/>
          <a:lstStyle/>
          <a:p>
            <a:fld id="{8FD39427-464A-4676-901A-0F94A37E035A}" type="slidenum">
              <a:rPr lang="en-GH" smtClean="0"/>
              <a:t>‹#›</a:t>
            </a:fld>
            <a:endParaRPr lang="en-GH"/>
          </a:p>
        </p:txBody>
      </p:sp>
    </p:spTree>
    <p:extLst>
      <p:ext uri="{BB962C8B-B14F-4D97-AF65-F5344CB8AC3E}">
        <p14:creationId xmlns:p14="http://schemas.microsoft.com/office/powerpoint/2010/main" val="2795625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135CB0-3F33-412F-BFAF-413702F4B82B}" type="datetimeFigureOut">
              <a:rPr lang="en-GH" smtClean="0"/>
              <a:t>10/07/2026</a:t>
            </a:fld>
            <a:endParaRPr lang="en-GH"/>
          </a:p>
        </p:txBody>
      </p:sp>
      <p:sp>
        <p:nvSpPr>
          <p:cNvPr id="6" name="Footer Placeholder 5"/>
          <p:cNvSpPr>
            <a:spLocks noGrp="1"/>
          </p:cNvSpPr>
          <p:nvPr>
            <p:ph type="ftr" sz="quarter" idx="11"/>
          </p:nvPr>
        </p:nvSpPr>
        <p:spPr/>
        <p:txBody>
          <a:bodyPr/>
          <a:lstStyle/>
          <a:p>
            <a:endParaRPr lang="en-GH"/>
          </a:p>
        </p:txBody>
      </p:sp>
      <p:sp>
        <p:nvSpPr>
          <p:cNvPr id="7" name="Slide Number Placeholder 6"/>
          <p:cNvSpPr>
            <a:spLocks noGrp="1"/>
          </p:cNvSpPr>
          <p:nvPr>
            <p:ph type="sldNum" sz="quarter" idx="12"/>
          </p:nvPr>
        </p:nvSpPr>
        <p:spPr/>
        <p:txBody>
          <a:bodyPr/>
          <a:lstStyle/>
          <a:p>
            <a:fld id="{8FD39427-464A-4676-901A-0F94A37E035A}" type="slidenum">
              <a:rPr lang="en-GH" smtClean="0"/>
              <a:t>‹#›</a:t>
            </a:fld>
            <a:endParaRPr lang="en-GH"/>
          </a:p>
        </p:txBody>
      </p:sp>
    </p:spTree>
    <p:extLst>
      <p:ext uri="{BB962C8B-B14F-4D97-AF65-F5344CB8AC3E}">
        <p14:creationId xmlns:p14="http://schemas.microsoft.com/office/powerpoint/2010/main" val="460207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135CB0-3F33-412F-BFAF-413702F4B82B}" type="datetimeFigureOut">
              <a:rPr lang="en-GH" smtClean="0"/>
              <a:t>10/07/2026</a:t>
            </a:fld>
            <a:endParaRPr lang="en-GH"/>
          </a:p>
        </p:txBody>
      </p:sp>
      <p:sp>
        <p:nvSpPr>
          <p:cNvPr id="6" name="Footer Placeholder 5"/>
          <p:cNvSpPr>
            <a:spLocks noGrp="1"/>
          </p:cNvSpPr>
          <p:nvPr>
            <p:ph type="ftr" sz="quarter" idx="11"/>
          </p:nvPr>
        </p:nvSpPr>
        <p:spPr/>
        <p:txBody>
          <a:bodyPr/>
          <a:lstStyle/>
          <a:p>
            <a:endParaRPr lang="en-GH"/>
          </a:p>
        </p:txBody>
      </p:sp>
      <p:sp>
        <p:nvSpPr>
          <p:cNvPr id="7" name="Slide Number Placeholder 6"/>
          <p:cNvSpPr>
            <a:spLocks noGrp="1"/>
          </p:cNvSpPr>
          <p:nvPr>
            <p:ph type="sldNum" sz="quarter" idx="12"/>
          </p:nvPr>
        </p:nvSpPr>
        <p:spPr/>
        <p:txBody>
          <a:bodyPr/>
          <a:lstStyle/>
          <a:p>
            <a:fld id="{8FD39427-464A-4676-901A-0F94A37E035A}" type="slidenum">
              <a:rPr lang="en-GH" smtClean="0"/>
              <a:t>‹#›</a:t>
            </a:fld>
            <a:endParaRPr lang="en-GH"/>
          </a:p>
        </p:txBody>
      </p:sp>
    </p:spTree>
    <p:extLst>
      <p:ext uri="{BB962C8B-B14F-4D97-AF65-F5344CB8AC3E}">
        <p14:creationId xmlns:p14="http://schemas.microsoft.com/office/powerpoint/2010/main" val="1950410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3135CB0-3F33-412F-BFAF-413702F4B82B}" type="datetimeFigureOut">
              <a:rPr lang="en-GH" smtClean="0"/>
              <a:t>10/07/2026</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8FD39427-464A-4676-901A-0F94A37E035A}" type="slidenum">
              <a:rPr lang="en-GH" smtClean="0"/>
              <a:t>‹#›</a:t>
            </a:fld>
            <a:endParaRPr lang="en-GH"/>
          </a:p>
        </p:txBody>
      </p:sp>
    </p:spTree>
    <p:extLst>
      <p:ext uri="{BB962C8B-B14F-4D97-AF65-F5344CB8AC3E}">
        <p14:creationId xmlns:p14="http://schemas.microsoft.com/office/powerpoint/2010/main" val="38144023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3135CB0-3F33-412F-BFAF-413702F4B82B}" type="datetimeFigureOut">
              <a:rPr lang="en-GH" smtClean="0"/>
              <a:t>10/07/2026</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8FD39427-464A-4676-901A-0F94A37E035A}" type="slidenum">
              <a:rPr lang="en-GH" smtClean="0"/>
              <a:t>‹#›</a:t>
            </a:fld>
            <a:endParaRPr lang="en-GH"/>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887283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135CB0-3F33-412F-BFAF-413702F4B82B}" type="datetimeFigureOut">
              <a:rPr lang="en-GH" smtClean="0"/>
              <a:t>10/07/2026</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8FD39427-464A-4676-901A-0F94A37E035A}" type="slidenum">
              <a:rPr lang="en-GH" smtClean="0"/>
              <a:t>‹#›</a:t>
            </a:fld>
            <a:endParaRPr lang="en-GH"/>
          </a:p>
        </p:txBody>
      </p:sp>
    </p:spTree>
    <p:extLst>
      <p:ext uri="{BB962C8B-B14F-4D97-AF65-F5344CB8AC3E}">
        <p14:creationId xmlns:p14="http://schemas.microsoft.com/office/powerpoint/2010/main" val="5285546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3135CB0-3F33-412F-BFAF-413702F4B82B}" type="datetimeFigureOut">
              <a:rPr lang="en-GH" smtClean="0"/>
              <a:t>10/07/2026</a:t>
            </a:fld>
            <a:endParaRPr lang="en-GH"/>
          </a:p>
        </p:txBody>
      </p:sp>
      <p:sp>
        <p:nvSpPr>
          <p:cNvPr id="4"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8FD39427-464A-4676-901A-0F94A37E035A}" type="slidenum">
              <a:rPr lang="en-GH" smtClean="0"/>
              <a:t>‹#›</a:t>
            </a:fld>
            <a:endParaRPr lang="en-GH"/>
          </a:p>
        </p:txBody>
      </p:sp>
    </p:spTree>
    <p:extLst>
      <p:ext uri="{BB962C8B-B14F-4D97-AF65-F5344CB8AC3E}">
        <p14:creationId xmlns:p14="http://schemas.microsoft.com/office/powerpoint/2010/main" val="2129807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3135CB0-3F33-412F-BFAF-413702F4B82B}" type="datetimeFigureOut">
              <a:rPr lang="en-GH" smtClean="0"/>
              <a:t>10/07/2026</a:t>
            </a:fld>
            <a:endParaRPr lang="en-GH"/>
          </a:p>
        </p:txBody>
      </p:sp>
      <p:sp>
        <p:nvSpPr>
          <p:cNvPr id="4"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8FD39427-464A-4676-901A-0F94A37E035A}" type="slidenum">
              <a:rPr lang="en-GH" smtClean="0"/>
              <a:t>‹#›</a:t>
            </a:fld>
            <a:endParaRPr lang="en-GH"/>
          </a:p>
        </p:txBody>
      </p:sp>
    </p:spTree>
    <p:extLst>
      <p:ext uri="{BB962C8B-B14F-4D97-AF65-F5344CB8AC3E}">
        <p14:creationId xmlns:p14="http://schemas.microsoft.com/office/powerpoint/2010/main" val="22377406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135CB0-3F33-412F-BFAF-413702F4B82B}" type="datetimeFigureOut">
              <a:rPr lang="en-GH" smtClean="0"/>
              <a:t>10/07/2026</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8FD39427-464A-4676-901A-0F94A37E035A}" type="slidenum">
              <a:rPr lang="en-GH" smtClean="0"/>
              <a:t>‹#›</a:t>
            </a:fld>
            <a:endParaRPr lang="en-GH"/>
          </a:p>
        </p:txBody>
      </p:sp>
    </p:spTree>
    <p:extLst>
      <p:ext uri="{BB962C8B-B14F-4D97-AF65-F5344CB8AC3E}">
        <p14:creationId xmlns:p14="http://schemas.microsoft.com/office/powerpoint/2010/main" val="1697967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135CB0-3F33-412F-BFAF-413702F4B82B}" type="datetimeFigureOut">
              <a:rPr lang="en-GH" smtClean="0"/>
              <a:t>10/07/2026</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8FD39427-464A-4676-901A-0F94A37E035A}" type="slidenum">
              <a:rPr lang="en-GH" smtClean="0"/>
              <a:t>‹#›</a:t>
            </a:fld>
            <a:endParaRPr lang="en-GH"/>
          </a:p>
        </p:txBody>
      </p:sp>
    </p:spTree>
    <p:extLst>
      <p:ext uri="{BB962C8B-B14F-4D97-AF65-F5344CB8AC3E}">
        <p14:creationId xmlns:p14="http://schemas.microsoft.com/office/powerpoint/2010/main" val="3753008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3135CB0-3F33-412F-BFAF-413702F4B82B}" type="datetimeFigureOut">
              <a:rPr lang="en-GH" smtClean="0"/>
              <a:t>10/07/2026</a:t>
            </a:fld>
            <a:endParaRPr lang="en-GH"/>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GH"/>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8FD39427-464A-4676-901A-0F94A37E035A}" type="slidenum">
              <a:rPr lang="en-GH" smtClean="0"/>
              <a:t>‹#›</a:t>
            </a:fld>
            <a:endParaRPr lang="en-GH"/>
          </a:p>
        </p:txBody>
      </p:sp>
    </p:spTree>
    <p:extLst>
      <p:ext uri="{BB962C8B-B14F-4D97-AF65-F5344CB8AC3E}">
        <p14:creationId xmlns:p14="http://schemas.microsoft.com/office/powerpoint/2010/main" val="40602551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0E9FE-4884-F939-86AF-D63E655FEC06}"/>
              </a:ext>
            </a:extLst>
          </p:cNvPr>
          <p:cNvSpPr>
            <a:spLocks noGrp="1"/>
          </p:cNvSpPr>
          <p:nvPr>
            <p:ph type="ctrTitle"/>
          </p:nvPr>
        </p:nvSpPr>
        <p:spPr>
          <a:xfrm>
            <a:off x="1228107" y="3038855"/>
            <a:ext cx="8825658" cy="3329581"/>
          </a:xfrm>
        </p:spPr>
        <p:txBody>
          <a:bodyPr/>
          <a:lstStyle/>
          <a:p>
            <a:pPr algn="ctr"/>
            <a:r>
              <a:rPr lang="en-GH" sz="3200" b="1" dirty="0"/>
              <a:t>PROJECT PRESENTATION</a:t>
            </a:r>
            <a:br>
              <a:rPr lang="en-GH" sz="3200" b="1" dirty="0"/>
            </a:br>
            <a:r>
              <a:rPr lang="en-GH" sz="3200" b="1" dirty="0"/>
              <a:t>Motor Current Safety Monitoring System</a:t>
            </a:r>
            <a:br>
              <a:rPr lang="en-GH" sz="3200" dirty="0"/>
            </a:br>
            <a:r>
              <a:rPr lang="en-GH" sz="3200" b="1" dirty="0"/>
              <a:t>Presented by:</a:t>
            </a:r>
            <a:br>
              <a:rPr lang="en-GB" sz="3200" b="1" dirty="0"/>
            </a:br>
            <a:r>
              <a:rPr lang="en-GB" sz="3200" b="1" dirty="0"/>
              <a:t>GROUP 1.8</a:t>
            </a:r>
            <a:br>
              <a:rPr lang="en-GH" sz="3200" dirty="0"/>
            </a:br>
            <a:r>
              <a:rPr lang="en-GH" sz="3200" b="1" dirty="0"/>
              <a:t>Department:</a:t>
            </a:r>
            <a:br>
              <a:rPr lang="en-GH" sz="3200" dirty="0"/>
            </a:br>
            <a:r>
              <a:rPr lang="en-GH" sz="3200" dirty="0"/>
              <a:t>Electrical and Electronic Engineering </a:t>
            </a:r>
            <a:br>
              <a:rPr lang="en-GH" sz="3200" dirty="0"/>
            </a:br>
            <a:r>
              <a:rPr lang="en-GH" sz="3200" b="1" dirty="0"/>
              <a:t>Course:</a:t>
            </a:r>
            <a:br>
              <a:rPr lang="en-GH" sz="3200" dirty="0"/>
            </a:br>
            <a:r>
              <a:rPr lang="en-GH" sz="3200" dirty="0"/>
              <a:t>BEE208 – Introduction to Computer Programming</a:t>
            </a:r>
            <a:br>
              <a:rPr lang="en-GH" sz="3200" dirty="0"/>
            </a:br>
            <a:r>
              <a:rPr lang="en-GH" sz="3200" b="1" dirty="0"/>
              <a:t>Institution:</a:t>
            </a:r>
            <a:br>
              <a:rPr lang="en-GH" sz="3200" dirty="0"/>
            </a:br>
            <a:r>
              <a:rPr lang="en-GH" sz="3200" dirty="0"/>
              <a:t>Accra Technical University</a:t>
            </a:r>
            <a:br>
              <a:rPr lang="en-GH" sz="3200" dirty="0"/>
            </a:br>
            <a:endParaRPr lang="en-GH" sz="3200" dirty="0"/>
          </a:p>
        </p:txBody>
      </p:sp>
    </p:spTree>
    <p:extLst>
      <p:ext uri="{BB962C8B-B14F-4D97-AF65-F5344CB8AC3E}">
        <p14:creationId xmlns:p14="http://schemas.microsoft.com/office/powerpoint/2010/main" val="20921005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0E9FE-4884-F939-86AF-D63E655FEC06}"/>
              </a:ext>
            </a:extLst>
          </p:cNvPr>
          <p:cNvSpPr>
            <a:spLocks noGrp="1"/>
          </p:cNvSpPr>
          <p:nvPr>
            <p:ph type="ctrTitle"/>
          </p:nvPr>
        </p:nvSpPr>
        <p:spPr>
          <a:xfrm>
            <a:off x="1054371" y="3528419"/>
            <a:ext cx="8825658" cy="3329581"/>
          </a:xfrm>
        </p:spPr>
        <p:txBody>
          <a:bodyPr/>
          <a:lstStyle/>
          <a:p>
            <a:pPr algn="ctr"/>
            <a:br>
              <a:rPr lang="en-GH" sz="2800" b="1" dirty="0"/>
            </a:br>
            <a:r>
              <a:rPr lang="en-GH" sz="2800" b="1" u="sng" dirty="0" err="1">
                <a:highlight>
                  <a:srgbClr val="0000FF"/>
                </a:highlight>
              </a:rPr>
              <a:t>Introduction</a:t>
            </a:r>
            <a:br>
              <a:rPr lang="en-GH" sz="2800" b="1" dirty="0"/>
            </a:br>
            <a:r>
              <a:rPr lang="en-GH" sz="2800" dirty="0"/>
              <a:t>Electric motors are widely used in industries, homes, and commercial facilities. One of the major causes of motor failure is </a:t>
            </a:r>
            <a:r>
              <a:rPr lang="en-GH" sz="2800" b="1" dirty="0"/>
              <a:t>overloading</a:t>
            </a:r>
            <a:r>
              <a:rPr lang="en-GH" sz="2800" dirty="0"/>
              <a:t>, where the motor draws more current than it is designed to handle.</a:t>
            </a:r>
            <a:br>
              <a:rPr lang="en-GH" sz="2800" dirty="0"/>
            </a:br>
            <a:r>
              <a:rPr lang="en-GH" sz="2800" dirty="0"/>
              <a:t>This project was developed to monitor motor current by comparing the </a:t>
            </a:r>
            <a:r>
              <a:rPr lang="en-GH" sz="2800" b="1" dirty="0"/>
              <a:t>rated current</a:t>
            </a:r>
            <a:r>
              <a:rPr lang="en-GH" sz="2800" dirty="0"/>
              <a:t> with the </a:t>
            </a:r>
            <a:r>
              <a:rPr lang="en-GH" sz="2800" b="1" dirty="0"/>
              <a:t>measured current</a:t>
            </a:r>
            <a:r>
              <a:rPr lang="en-GH" sz="2800" dirty="0"/>
              <a:t> and informing the user whether the motor is operating safely or is overloaded.</a:t>
            </a:r>
            <a:br>
              <a:rPr lang="en-GH" sz="2800" dirty="0"/>
            </a:br>
            <a:endParaRPr lang="en-GH" sz="9600" dirty="0"/>
          </a:p>
        </p:txBody>
      </p:sp>
    </p:spTree>
    <p:extLst>
      <p:ext uri="{BB962C8B-B14F-4D97-AF65-F5344CB8AC3E}">
        <p14:creationId xmlns:p14="http://schemas.microsoft.com/office/powerpoint/2010/main" val="37840232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2E4EFDC-5A19-BA12-A149-D2F5063E6814}"/>
              </a:ext>
            </a:extLst>
          </p:cNvPr>
          <p:cNvSpPr/>
          <p:nvPr/>
        </p:nvSpPr>
        <p:spPr>
          <a:xfrm>
            <a:off x="0" y="0"/>
            <a:ext cx="12192000" cy="6858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H" sz="3200" b="1" u="sng" dirty="0">
                <a:highlight>
                  <a:srgbClr val="0000FF"/>
                </a:highlight>
              </a:rPr>
              <a:t>Problem Statement</a:t>
            </a:r>
          </a:p>
          <a:p>
            <a:pPr algn="ctr"/>
            <a:r>
              <a:rPr lang="en-GH" sz="3200" b="1" dirty="0"/>
              <a:t>Monitoring motor current manually can be difficult and time-consuming.</a:t>
            </a:r>
          </a:p>
          <a:p>
            <a:pPr algn="ctr"/>
            <a:r>
              <a:rPr lang="en-GH" sz="3200" b="1" dirty="0"/>
              <a:t>If a motor operates above its rated current for a long period:</a:t>
            </a:r>
          </a:p>
          <a:p>
            <a:pPr algn="ctr"/>
            <a:r>
              <a:rPr lang="en-GH" sz="3200" b="1" dirty="0"/>
              <a:t>It overheats. </a:t>
            </a:r>
          </a:p>
          <a:p>
            <a:pPr algn="ctr"/>
            <a:r>
              <a:rPr lang="en-GH" sz="3200" b="1" dirty="0"/>
              <a:t>It loses efficiency. </a:t>
            </a:r>
          </a:p>
          <a:p>
            <a:pPr algn="ctr"/>
            <a:r>
              <a:rPr lang="en-GH" sz="3200" b="1" dirty="0"/>
              <a:t>It may become permanently damaged. </a:t>
            </a:r>
          </a:p>
          <a:p>
            <a:pPr algn="ctr"/>
            <a:r>
              <a:rPr lang="en-GH" sz="3200" b="1" dirty="0"/>
              <a:t>It increases maintenance costs. </a:t>
            </a:r>
          </a:p>
          <a:p>
            <a:pPr algn="ctr"/>
            <a:r>
              <a:rPr lang="en-GH" sz="3200" b="1" dirty="0"/>
              <a:t>Therefore, a simple monitoring system is needed to detect overload conditions quickly.</a:t>
            </a:r>
          </a:p>
        </p:txBody>
      </p:sp>
    </p:spTree>
    <p:extLst>
      <p:ext uri="{BB962C8B-B14F-4D97-AF65-F5344CB8AC3E}">
        <p14:creationId xmlns:p14="http://schemas.microsoft.com/office/powerpoint/2010/main" val="1347120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A5C7F0-10F6-5F9F-0739-D4C2A0312FAC}"/>
              </a:ext>
            </a:extLst>
          </p:cNvPr>
          <p:cNvSpPr/>
          <p:nvPr/>
        </p:nvSpPr>
        <p:spPr>
          <a:xfrm>
            <a:off x="0" y="0"/>
            <a:ext cx="12192000" cy="6858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H" sz="3600" b="1" u="sng" dirty="0">
                <a:highlight>
                  <a:srgbClr val="0000FF"/>
                </a:highlight>
              </a:rPr>
              <a:t>Aim</a:t>
            </a:r>
          </a:p>
          <a:p>
            <a:pPr algn="ctr"/>
            <a:r>
              <a:rPr lang="en-GH" sz="3600" b="1" dirty="0"/>
              <a:t>To develop a Motor Current Safety Monitoring System that checks the operating condition of electric motors by comparing rated current with measured current</a:t>
            </a:r>
            <a:r>
              <a:rPr lang="en-GH" dirty="0"/>
              <a:t>.</a:t>
            </a:r>
          </a:p>
        </p:txBody>
      </p:sp>
    </p:spTree>
    <p:extLst>
      <p:ext uri="{BB962C8B-B14F-4D97-AF65-F5344CB8AC3E}">
        <p14:creationId xmlns:p14="http://schemas.microsoft.com/office/powerpoint/2010/main" val="39184351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CAAEA6D-AEBC-ECF0-0C32-05035D2DD750}"/>
              </a:ext>
            </a:extLst>
          </p:cNvPr>
          <p:cNvSpPr/>
          <p:nvPr/>
        </p:nvSpPr>
        <p:spPr>
          <a:xfrm>
            <a:off x="0" y="0"/>
            <a:ext cx="12192000" cy="72786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H" sz="3200" b="1" u="sng" dirty="0">
                <a:highlight>
                  <a:srgbClr val="0000FF"/>
                </a:highlight>
              </a:rPr>
              <a:t>Objectives</a:t>
            </a:r>
          </a:p>
          <a:p>
            <a:pPr algn="ctr"/>
            <a:r>
              <a:rPr lang="en-GH" sz="3200" b="1" dirty="0"/>
              <a:t>Develop a menu-driven C++ application. </a:t>
            </a:r>
          </a:p>
          <a:p>
            <a:pPr algn="ctr"/>
            <a:r>
              <a:rPr lang="en-GH" sz="3200" b="1" dirty="0"/>
              <a:t>Accept motor information from the user. </a:t>
            </a:r>
          </a:p>
          <a:p>
            <a:pPr algn="ctr"/>
            <a:r>
              <a:rPr lang="en-GH" sz="3200" b="1" dirty="0"/>
              <a:t>Compare rated current with measured current. </a:t>
            </a:r>
          </a:p>
          <a:p>
            <a:pPr algn="ctr"/>
            <a:r>
              <a:rPr lang="en-GH" sz="3200" b="1" dirty="0"/>
              <a:t>Determine whether the motor is safe or overloaded. </a:t>
            </a:r>
          </a:p>
          <a:p>
            <a:pPr algn="ctr"/>
            <a:r>
              <a:rPr lang="en-GH" sz="3200" b="1" dirty="0"/>
              <a:t>Display monitoring reports. </a:t>
            </a:r>
          </a:p>
          <a:p>
            <a:pPr algn="ctr"/>
            <a:r>
              <a:rPr lang="en-GH" sz="3200" b="1" dirty="0"/>
              <a:t>Save reports into a text file. </a:t>
            </a:r>
          </a:p>
          <a:p>
            <a:pPr algn="ctr"/>
            <a:r>
              <a:rPr lang="en-GH" sz="3200" b="1" dirty="0"/>
              <a:t>View saved reports. </a:t>
            </a:r>
          </a:p>
          <a:p>
            <a:pPr algn="ctr"/>
            <a:r>
              <a:rPr lang="en-GH" sz="3200" b="1" dirty="0"/>
              <a:t>Clear saved reports</a:t>
            </a:r>
            <a:r>
              <a:rPr lang="en-GH" sz="2400" dirty="0"/>
              <a:t>.</a:t>
            </a:r>
          </a:p>
        </p:txBody>
      </p:sp>
    </p:spTree>
    <p:extLst>
      <p:ext uri="{BB962C8B-B14F-4D97-AF65-F5344CB8AC3E}">
        <p14:creationId xmlns:p14="http://schemas.microsoft.com/office/powerpoint/2010/main" val="1217181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6CCCB24-1E70-9449-F375-A21C07B40AB7}"/>
              </a:ext>
            </a:extLst>
          </p:cNvPr>
          <p:cNvSpPr/>
          <p:nvPr/>
        </p:nvSpPr>
        <p:spPr>
          <a:xfrm>
            <a:off x="0" y="0"/>
            <a:ext cx="12192000" cy="6858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H" sz="2400" b="1" dirty="0"/>
              <a:t> </a:t>
            </a:r>
            <a:r>
              <a:rPr lang="en-GH" sz="2400" b="1" u="sng" dirty="0">
                <a:highlight>
                  <a:srgbClr val="0000FF"/>
                </a:highlight>
              </a:rPr>
              <a:t>Programming Concepts Used</a:t>
            </a:r>
          </a:p>
          <a:p>
            <a:pPr algn="ctr"/>
            <a:r>
              <a:rPr lang="en-GH" sz="2400" b="1" u="sng" dirty="0">
                <a:highlight>
                  <a:srgbClr val="0000FF"/>
                </a:highlight>
              </a:rPr>
              <a:t>C++ Concepts Used</a:t>
            </a:r>
          </a:p>
          <a:p>
            <a:pPr algn="ctr"/>
            <a:r>
              <a:rPr lang="en-GH" sz="2400" dirty="0"/>
              <a:t>Classes and Objects </a:t>
            </a:r>
          </a:p>
          <a:p>
            <a:pPr algn="ctr"/>
            <a:r>
              <a:rPr lang="en-GH" sz="2400" dirty="0"/>
              <a:t>Header Files </a:t>
            </a:r>
          </a:p>
          <a:p>
            <a:pPr algn="ctr"/>
            <a:r>
              <a:rPr lang="en-GH" sz="2400" dirty="0"/>
              <a:t>Source Files </a:t>
            </a:r>
          </a:p>
          <a:p>
            <a:pPr algn="ctr"/>
            <a:r>
              <a:rPr lang="en-GH" sz="2400" dirty="0"/>
              <a:t>Functions </a:t>
            </a:r>
          </a:p>
          <a:p>
            <a:pPr algn="ctr"/>
            <a:r>
              <a:rPr lang="en-GH" sz="2400" dirty="0"/>
              <a:t>if...else Statements </a:t>
            </a:r>
          </a:p>
          <a:p>
            <a:pPr algn="ctr"/>
            <a:r>
              <a:rPr lang="en-GH" sz="2400" dirty="0"/>
              <a:t>switch Statements </a:t>
            </a:r>
          </a:p>
          <a:p>
            <a:pPr algn="ctr"/>
            <a:r>
              <a:rPr lang="en-GH" sz="2400" dirty="0"/>
              <a:t>for Loop </a:t>
            </a:r>
          </a:p>
          <a:p>
            <a:pPr algn="ctr"/>
            <a:r>
              <a:rPr lang="en-GH" sz="2400" dirty="0"/>
              <a:t>do...while Loop </a:t>
            </a:r>
          </a:p>
          <a:p>
            <a:pPr algn="ctr"/>
            <a:r>
              <a:rPr lang="en-GH" sz="2400" dirty="0"/>
              <a:t>continue Statement </a:t>
            </a:r>
          </a:p>
          <a:p>
            <a:pPr algn="ctr"/>
            <a:r>
              <a:rPr lang="en-GH" sz="2400" dirty="0"/>
              <a:t>break Statement </a:t>
            </a:r>
          </a:p>
          <a:p>
            <a:pPr algn="ctr"/>
            <a:r>
              <a:rPr lang="en-GH" sz="2400" dirty="0"/>
              <a:t>File Handling </a:t>
            </a:r>
          </a:p>
          <a:p>
            <a:pPr algn="ctr"/>
            <a:r>
              <a:rPr lang="en-GH" sz="2400" dirty="0"/>
              <a:t>String Manipulation</a:t>
            </a:r>
          </a:p>
        </p:txBody>
      </p:sp>
    </p:spTree>
    <p:extLst>
      <p:ext uri="{BB962C8B-B14F-4D97-AF65-F5344CB8AC3E}">
        <p14:creationId xmlns:p14="http://schemas.microsoft.com/office/powerpoint/2010/main" val="34304918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4EA81A9-620D-182D-B336-DB26A3A005EC}"/>
              </a:ext>
            </a:extLst>
          </p:cNvPr>
          <p:cNvSpPr/>
          <p:nvPr/>
        </p:nvSpPr>
        <p:spPr>
          <a:xfrm>
            <a:off x="0" y="0"/>
            <a:ext cx="12192000" cy="67939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H" sz="3200" b="1" u="sng" dirty="0">
                <a:highlight>
                  <a:srgbClr val="0000FF"/>
                </a:highlight>
              </a:rPr>
              <a:t> System Flow</a:t>
            </a:r>
          </a:p>
          <a:p>
            <a:pPr algn="ctr"/>
            <a:r>
              <a:rPr lang="en-GH" sz="3200" dirty="0"/>
              <a:t>Explain:</a:t>
            </a:r>
          </a:p>
          <a:p>
            <a:pPr algn="ctr"/>
            <a:r>
              <a:rPr lang="en-GH" sz="3200" dirty="0"/>
              <a:t>User starts the program. </a:t>
            </a:r>
          </a:p>
          <a:p>
            <a:pPr algn="ctr"/>
            <a:r>
              <a:rPr lang="en-GH" sz="3200" dirty="0"/>
              <a:t>Menu is displayed. </a:t>
            </a:r>
          </a:p>
          <a:p>
            <a:pPr algn="ctr"/>
            <a:r>
              <a:rPr lang="en-GH" sz="3200" dirty="0"/>
              <a:t>User selects an option. </a:t>
            </a:r>
          </a:p>
          <a:p>
            <a:pPr algn="ctr"/>
            <a:r>
              <a:rPr lang="en-GH" sz="3200" dirty="0"/>
              <a:t>Motor information is entered. </a:t>
            </a:r>
          </a:p>
          <a:p>
            <a:pPr algn="ctr"/>
            <a:r>
              <a:rPr lang="en-GH" sz="3200" dirty="0"/>
              <a:t>System validates the input. </a:t>
            </a:r>
          </a:p>
          <a:p>
            <a:pPr algn="ctr"/>
            <a:r>
              <a:rPr lang="en-GH" sz="3200" dirty="0"/>
              <a:t>Current comparison is performed. </a:t>
            </a:r>
          </a:p>
          <a:p>
            <a:pPr algn="ctr"/>
            <a:r>
              <a:rPr lang="en-GH" sz="3200" dirty="0"/>
              <a:t>Safety status is displayed. </a:t>
            </a:r>
          </a:p>
          <a:p>
            <a:pPr algn="ctr"/>
            <a:r>
              <a:rPr lang="en-GH" sz="3200" dirty="0"/>
              <a:t>Report is saved. </a:t>
            </a:r>
          </a:p>
          <a:p>
            <a:pPr algn="ctr"/>
            <a:r>
              <a:rPr lang="en-GH" sz="3200" dirty="0"/>
              <a:t>User returns to the menu or exits. </a:t>
            </a:r>
          </a:p>
        </p:txBody>
      </p:sp>
    </p:spTree>
    <p:extLst>
      <p:ext uri="{BB962C8B-B14F-4D97-AF65-F5344CB8AC3E}">
        <p14:creationId xmlns:p14="http://schemas.microsoft.com/office/powerpoint/2010/main" val="34452317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0F36A67-FC6B-DDBE-FBE1-58CEEAF225BE}"/>
              </a:ext>
            </a:extLst>
          </p:cNvPr>
          <p:cNvSpPr/>
          <p:nvPr/>
        </p:nvSpPr>
        <p:spPr>
          <a:xfrm>
            <a:off x="0" y="0"/>
            <a:ext cx="12192000" cy="6858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H" sz="2800" b="1" u="sng" dirty="0">
                <a:highlight>
                  <a:srgbClr val="0000FF"/>
                </a:highlight>
              </a:rPr>
              <a:t>How the System Works</a:t>
            </a:r>
          </a:p>
          <a:p>
            <a:pPr algn="ctr"/>
            <a:r>
              <a:rPr lang="en-GH" sz="2800" dirty="0"/>
              <a:t>Example:</a:t>
            </a:r>
          </a:p>
          <a:p>
            <a:pPr algn="ctr"/>
            <a:r>
              <a:rPr lang="en-GH" sz="2800" dirty="0"/>
              <a:t>Rated Current = </a:t>
            </a:r>
            <a:r>
              <a:rPr lang="en-GH" sz="2800" b="1" dirty="0"/>
              <a:t>10 A</a:t>
            </a:r>
            <a:endParaRPr lang="en-GH" sz="2800" dirty="0"/>
          </a:p>
          <a:p>
            <a:pPr algn="ctr"/>
            <a:r>
              <a:rPr lang="en-GH" sz="2800" dirty="0"/>
              <a:t>Measured Current = </a:t>
            </a:r>
            <a:r>
              <a:rPr lang="en-GH" sz="2800" b="1" dirty="0"/>
              <a:t>8 A</a:t>
            </a:r>
            <a:endParaRPr lang="en-GH" sz="2800" dirty="0"/>
          </a:p>
          <a:p>
            <a:pPr algn="ctr"/>
            <a:r>
              <a:rPr lang="en-GH" sz="2800" dirty="0"/>
              <a:t>Since:</a:t>
            </a:r>
          </a:p>
          <a:p>
            <a:pPr algn="ctr"/>
            <a:r>
              <a:rPr lang="en-GH" sz="2800" dirty="0"/>
              <a:t>8 ≤ 10</a:t>
            </a:r>
          </a:p>
          <a:p>
            <a:pPr algn="ctr"/>
            <a:r>
              <a:rPr lang="en-GH" sz="2800" dirty="0"/>
              <a:t>Status:</a:t>
            </a:r>
          </a:p>
          <a:p>
            <a:pPr algn="ctr"/>
            <a:r>
              <a:rPr lang="en-GH" sz="2800" dirty="0"/>
              <a:t>✅ Safe Operation</a:t>
            </a:r>
          </a:p>
        </p:txBody>
      </p:sp>
    </p:spTree>
    <p:extLst>
      <p:ext uri="{BB962C8B-B14F-4D97-AF65-F5344CB8AC3E}">
        <p14:creationId xmlns:p14="http://schemas.microsoft.com/office/powerpoint/2010/main" val="447986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94E847F-D66C-6B41-A2F9-6C8C17E7439E}"/>
              </a:ext>
            </a:extLst>
          </p:cNvPr>
          <p:cNvSpPr/>
          <p:nvPr/>
        </p:nvSpPr>
        <p:spPr>
          <a:xfrm>
            <a:off x="0" y="0"/>
            <a:ext cx="12192000" cy="6858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525"/>
              </a:spcAft>
            </a:pPr>
            <a:r>
              <a:rPr lang="en-GH" sz="2800" b="1" u="sng" dirty="0">
                <a:solidFill>
                  <a:srgbClr val="FFFFFF"/>
                </a:solidFill>
                <a:highlight>
                  <a:srgbClr val="0000FF"/>
                </a:highlight>
                <a:latin typeface="Segoe UI Variable Text" pitchFamily="2" charset="0"/>
              </a:rPr>
              <a:t> Program Features</a:t>
            </a:r>
          </a:p>
          <a:p>
            <a:pPr algn="ctr"/>
            <a:r>
              <a:rPr lang="en-GH" sz="2800" dirty="0">
                <a:solidFill>
                  <a:srgbClr val="FFFFFF"/>
                </a:solidFill>
                <a:latin typeface="Segoe UI Variable Text" pitchFamily="2" charset="0"/>
              </a:rPr>
              <a:t>The system can:</a:t>
            </a:r>
          </a:p>
          <a:p>
            <a:pPr algn="ctr">
              <a:buFont typeface="Arial" panose="020B0604020202020204" pitchFamily="34" charset="0"/>
              <a:buChar char="•"/>
            </a:pPr>
            <a:r>
              <a:rPr lang="en-GH" sz="2800" dirty="0">
                <a:solidFill>
                  <a:srgbClr val="FFFFFF"/>
                </a:solidFill>
                <a:latin typeface="Segoe UI Variable Text" pitchFamily="2" charset="0"/>
              </a:rPr>
              <a:t>Monitor multiple motors</a:t>
            </a:r>
          </a:p>
          <a:p>
            <a:pPr algn="ctr">
              <a:buFont typeface="Arial" panose="020B0604020202020204" pitchFamily="34" charset="0"/>
              <a:buChar char="•"/>
            </a:pPr>
            <a:r>
              <a:rPr lang="en-GH" sz="2800" dirty="0">
                <a:solidFill>
                  <a:srgbClr val="FFFFFF"/>
                </a:solidFill>
                <a:latin typeface="Segoe UI Variable Text" pitchFamily="2" charset="0"/>
              </a:rPr>
              <a:t>Validate user input</a:t>
            </a:r>
          </a:p>
          <a:p>
            <a:pPr algn="ctr">
              <a:buFont typeface="Arial" panose="020B0604020202020204" pitchFamily="34" charset="0"/>
              <a:buChar char="•"/>
            </a:pPr>
            <a:r>
              <a:rPr lang="en-GH" sz="2800" dirty="0">
                <a:solidFill>
                  <a:srgbClr val="FFFFFF"/>
                </a:solidFill>
                <a:latin typeface="Segoe UI Variable Text" pitchFamily="2" charset="0"/>
              </a:rPr>
              <a:t>Detect overload conditions</a:t>
            </a:r>
          </a:p>
          <a:p>
            <a:pPr algn="ctr">
              <a:buFont typeface="Arial" panose="020B0604020202020204" pitchFamily="34" charset="0"/>
              <a:buChar char="•"/>
            </a:pPr>
            <a:r>
              <a:rPr lang="en-GH" sz="2800" dirty="0">
                <a:solidFill>
                  <a:srgbClr val="FFFFFF"/>
                </a:solidFill>
                <a:latin typeface="Segoe UI Variable Text" pitchFamily="2" charset="0"/>
              </a:rPr>
              <a:t>Display motor reports</a:t>
            </a:r>
          </a:p>
          <a:p>
            <a:pPr algn="ctr">
              <a:buFont typeface="Arial" panose="020B0604020202020204" pitchFamily="34" charset="0"/>
              <a:buChar char="•"/>
            </a:pPr>
            <a:r>
              <a:rPr lang="en-GH" sz="2800" dirty="0">
                <a:solidFill>
                  <a:srgbClr val="FFFFFF"/>
                </a:solidFill>
                <a:latin typeface="Segoe UI Variable Text" pitchFamily="2" charset="0"/>
              </a:rPr>
              <a:t>Save reports</a:t>
            </a:r>
          </a:p>
          <a:p>
            <a:pPr algn="ctr">
              <a:buFont typeface="Arial" panose="020B0604020202020204" pitchFamily="34" charset="0"/>
              <a:buChar char="•"/>
            </a:pPr>
            <a:r>
              <a:rPr lang="en-GH" sz="2800" dirty="0">
                <a:solidFill>
                  <a:srgbClr val="FFFFFF"/>
                </a:solidFill>
                <a:latin typeface="Segoe UI Variable Text" pitchFamily="2" charset="0"/>
              </a:rPr>
              <a:t>View reports</a:t>
            </a:r>
          </a:p>
          <a:p>
            <a:pPr algn="ctr">
              <a:buFont typeface="Arial" panose="020B0604020202020204" pitchFamily="34" charset="0"/>
              <a:buChar char="•"/>
            </a:pPr>
            <a:r>
              <a:rPr lang="en-GH" sz="2800" dirty="0">
                <a:solidFill>
                  <a:srgbClr val="FFFFFF"/>
                </a:solidFill>
                <a:latin typeface="Segoe UI Variable Text" pitchFamily="2" charset="0"/>
              </a:rPr>
              <a:t>Clear reports</a:t>
            </a:r>
          </a:p>
          <a:p>
            <a:pPr algn="ctr">
              <a:buFont typeface="Arial" panose="020B0604020202020204" pitchFamily="34" charset="0"/>
              <a:buChar char="•"/>
            </a:pPr>
            <a:r>
              <a:rPr lang="en-GH" sz="2800" dirty="0">
                <a:solidFill>
                  <a:srgbClr val="FFFFFF"/>
                </a:solidFill>
                <a:latin typeface="Segoe UI Variable Text" pitchFamily="2" charset="0"/>
              </a:rPr>
              <a:t>Display system information</a:t>
            </a:r>
          </a:p>
          <a:p>
            <a:pPr algn="ctr">
              <a:buNone/>
            </a:pPr>
            <a:br>
              <a:rPr lang="en-GH" sz="2800" dirty="0"/>
            </a:br>
            <a:endParaRPr lang="en-GH" sz="2800" dirty="0"/>
          </a:p>
        </p:txBody>
      </p:sp>
    </p:spTree>
    <p:extLst>
      <p:ext uri="{BB962C8B-B14F-4D97-AF65-F5344CB8AC3E}">
        <p14:creationId xmlns:p14="http://schemas.microsoft.com/office/powerpoint/2010/main" val="1780267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C7B7A0F-624E-7C2B-4BD6-F22255341C61}"/>
              </a:ext>
            </a:extLst>
          </p:cNvPr>
          <p:cNvSpPr txBox="1"/>
          <p:nvPr/>
        </p:nvSpPr>
        <p:spPr>
          <a:xfrm>
            <a:off x="2809494" y="1245584"/>
            <a:ext cx="6094476" cy="2554545"/>
          </a:xfrm>
          <a:prstGeom prst="rect">
            <a:avLst/>
          </a:prstGeom>
          <a:noFill/>
        </p:spPr>
        <p:txBody>
          <a:bodyPr wrap="square">
            <a:spAutoFit/>
          </a:bodyPr>
          <a:lstStyle/>
          <a:p>
            <a:pPr>
              <a:buNone/>
            </a:pPr>
            <a:r>
              <a:rPr lang="en-GH" sz="3200" b="1" u="sng" dirty="0">
                <a:highlight>
                  <a:srgbClr val="0000FF"/>
                </a:highlight>
              </a:rPr>
              <a:t> Sample Output</a:t>
            </a:r>
          </a:p>
          <a:p>
            <a:pPr>
              <a:buNone/>
            </a:pPr>
            <a:r>
              <a:rPr lang="en-GH" sz="3200" dirty="0"/>
              <a:t>Include screenshots of:</a:t>
            </a:r>
          </a:p>
          <a:p>
            <a:pPr>
              <a:buFont typeface="Arial" panose="020B0604020202020204" pitchFamily="34" charset="0"/>
              <a:buChar char="•"/>
            </a:pPr>
            <a:r>
              <a:rPr lang="en-GH" sz="3200" dirty="0"/>
              <a:t>Main Menu </a:t>
            </a:r>
          </a:p>
          <a:p>
            <a:pPr>
              <a:buFont typeface="Arial" panose="020B0604020202020204" pitchFamily="34" charset="0"/>
              <a:buChar char="•"/>
            </a:pPr>
            <a:r>
              <a:rPr lang="en-GH" sz="3200" dirty="0"/>
              <a:t>Motor Report </a:t>
            </a:r>
          </a:p>
          <a:p>
            <a:pPr>
              <a:buFont typeface="Arial" panose="020B0604020202020204" pitchFamily="34" charset="0"/>
              <a:buChar char="•"/>
            </a:pPr>
            <a:r>
              <a:rPr lang="en-GH" sz="3200" dirty="0"/>
              <a:t>Saved Report</a:t>
            </a:r>
            <a:endParaRPr lang="en-GH" dirty="0"/>
          </a:p>
        </p:txBody>
      </p:sp>
    </p:spTree>
    <p:extLst>
      <p:ext uri="{BB962C8B-B14F-4D97-AF65-F5344CB8AC3E}">
        <p14:creationId xmlns:p14="http://schemas.microsoft.com/office/powerpoint/2010/main" val="3924171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0E9FE-4884-F939-86AF-D63E655FEC06}"/>
              </a:ext>
            </a:extLst>
          </p:cNvPr>
          <p:cNvSpPr>
            <a:spLocks noGrp="1"/>
          </p:cNvSpPr>
          <p:nvPr>
            <p:ph type="ctrTitle"/>
          </p:nvPr>
        </p:nvSpPr>
        <p:spPr>
          <a:xfrm>
            <a:off x="1365267" y="2307336"/>
            <a:ext cx="8825658" cy="3329581"/>
          </a:xfrm>
        </p:spPr>
        <p:txBody>
          <a:bodyPr/>
          <a:lstStyle/>
          <a:p>
            <a:r>
              <a:rPr lang="en-GH" sz="3600" b="1" dirty="0"/>
              <a:t> </a:t>
            </a:r>
            <a:r>
              <a:rPr lang="en-GH" sz="3600" b="1" u="sng" dirty="0">
                <a:highlight>
                  <a:srgbClr val="0000FF"/>
                </a:highlight>
              </a:rPr>
              <a:t>Challenges Encountered</a:t>
            </a:r>
            <a:br>
              <a:rPr lang="en-GH" sz="3600" b="1" u="sng" dirty="0">
                <a:highlight>
                  <a:srgbClr val="0000FF"/>
                </a:highlight>
              </a:rPr>
            </a:br>
            <a:r>
              <a:rPr lang="en-GH" sz="3600" dirty="0"/>
              <a:t>Examples:</a:t>
            </a:r>
            <a:br>
              <a:rPr lang="en-GH" sz="3600" dirty="0"/>
            </a:br>
            <a:r>
              <a:rPr lang="en-GH" sz="3600" dirty="0"/>
              <a:t>Understanding file handling. </a:t>
            </a:r>
            <a:br>
              <a:rPr lang="en-GH" sz="3600" dirty="0"/>
            </a:br>
            <a:r>
              <a:rPr lang="en-GH" sz="3600" dirty="0"/>
              <a:t>Managing user input correctly. </a:t>
            </a:r>
            <a:br>
              <a:rPr lang="en-GH" sz="3600" dirty="0"/>
            </a:br>
            <a:r>
              <a:rPr lang="en-GH" sz="3600" dirty="0"/>
              <a:t>Handling invalid menu selections. </a:t>
            </a:r>
            <a:br>
              <a:rPr lang="en-GH" sz="3600" dirty="0"/>
            </a:br>
            <a:r>
              <a:rPr lang="en-GH" sz="3600" dirty="0"/>
              <a:t>Reading and writing reports. </a:t>
            </a:r>
            <a:br>
              <a:rPr lang="en-GH" sz="3600" dirty="0"/>
            </a:br>
            <a:r>
              <a:rPr lang="en-GH" sz="3600" dirty="0"/>
              <a:t>Organizing the program using classes. </a:t>
            </a:r>
            <a:br>
              <a:rPr lang="en-GH" sz="3600" dirty="0"/>
            </a:br>
            <a:endParaRPr lang="en-GH" sz="3600" dirty="0"/>
          </a:p>
        </p:txBody>
      </p:sp>
    </p:spTree>
    <p:extLst>
      <p:ext uri="{BB962C8B-B14F-4D97-AF65-F5344CB8AC3E}">
        <p14:creationId xmlns:p14="http://schemas.microsoft.com/office/powerpoint/2010/main" val="35857737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0E9FE-4884-F939-86AF-D63E655FEC06}"/>
              </a:ext>
            </a:extLst>
          </p:cNvPr>
          <p:cNvSpPr>
            <a:spLocks noGrp="1"/>
          </p:cNvSpPr>
          <p:nvPr>
            <p:ph type="ctrTitle"/>
          </p:nvPr>
        </p:nvSpPr>
        <p:spPr>
          <a:xfrm>
            <a:off x="1273827" y="2444496"/>
            <a:ext cx="8825658" cy="3329581"/>
          </a:xfrm>
        </p:spPr>
        <p:txBody>
          <a:bodyPr/>
          <a:lstStyle/>
          <a:p>
            <a:r>
              <a:rPr lang="en-GH" sz="2800" b="1" dirty="0"/>
              <a:t> </a:t>
            </a:r>
            <a:r>
              <a:rPr lang="en-GH" sz="2800" b="1" u="sng" dirty="0">
                <a:highlight>
                  <a:srgbClr val="0000FF"/>
                </a:highlight>
              </a:rPr>
              <a:t>Lessons Learned</a:t>
            </a:r>
            <a:br>
              <a:rPr lang="en-GH" sz="2800" b="1" dirty="0"/>
            </a:br>
            <a:r>
              <a:rPr lang="en-GH" sz="2800" dirty="0"/>
              <a:t>Through this project I learned:</a:t>
            </a:r>
            <a:br>
              <a:rPr lang="en-GH" sz="2800" dirty="0"/>
            </a:br>
            <a:r>
              <a:rPr lang="en-GH" sz="2800" dirty="0"/>
              <a:t>Object-Oriented Programming </a:t>
            </a:r>
            <a:br>
              <a:rPr lang="en-GH" sz="2800" dirty="0"/>
            </a:br>
            <a:r>
              <a:rPr lang="en-GH" sz="2800" dirty="0"/>
              <a:t>File Handling </a:t>
            </a:r>
            <a:br>
              <a:rPr lang="en-GH" sz="2800" dirty="0"/>
            </a:br>
            <a:r>
              <a:rPr lang="en-GH" sz="2800" dirty="0"/>
              <a:t>Menu-Driven Programming </a:t>
            </a:r>
            <a:br>
              <a:rPr lang="en-GH" sz="2800" dirty="0"/>
            </a:br>
            <a:r>
              <a:rPr lang="en-GH" sz="2800" dirty="0"/>
              <a:t>Input Validation </a:t>
            </a:r>
            <a:br>
              <a:rPr lang="en-GH" sz="2800" dirty="0"/>
            </a:br>
            <a:r>
              <a:rPr lang="en-GH" sz="2800" dirty="0"/>
              <a:t>Debugging </a:t>
            </a:r>
            <a:br>
              <a:rPr lang="en-GH" sz="2800" dirty="0"/>
            </a:br>
            <a:r>
              <a:rPr lang="en-GH" sz="2800" dirty="0"/>
              <a:t>Website Development using HTML, CSS, and JavaScript </a:t>
            </a:r>
            <a:br>
              <a:rPr lang="en-GH" sz="2800" dirty="0"/>
            </a:br>
            <a:r>
              <a:rPr lang="en-GH" sz="2800" dirty="0"/>
              <a:t>Basic Software Development Process </a:t>
            </a:r>
            <a:br>
              <a:rPr lang="en-GH" sz="2800" dirty="0"/>
            </a:br>
            <a:endParaRPr lang="en-GH" sz="2800" dirty="0"/>
          </a:p>
        </p:txBody>
      </p:sp>
    </p:spTree>
    <p:extLst>
      <p:ext uri="{BB962C8B-B14F-4D97-AF65-F5344CB8AC3E}">
        <p14:creationId xmlns:p14="http://schemas.microsoft.com/office/powerpoint/2010/main" val="19540973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0E9FE-4884-F939-86AF-D63E655FEC06}"/>
              </a:ext>
            </a:extLst>
          </p:cNvPr>
          <p:cNvSpPr>
            <a:spLocks noGrp="1"/>
          </p:cNvSpPr>
          <p:nvPr>
            <p:ph type="ctrTitle"/>
          </p:nvPr>
        </p:nvSpPr>
        <p:spPr>
          <a:xfrm>
            <a:off x="1383555" y="2929128"/>
            <a:ext cx="8825658" cy="3329581"/>
          </a:xfrm>
        </p:spPr>
        <p:txBody>
          <a:bodyPr/>
          <a:lstStyle/>
          <a:p>
            <a:r>
              <a:rPr lang="en-GH" sz="2800" b="1" dirty="0"/>
              <a:t> </a:t>
            </a:r>
            <a:r>
              <a:rPr lang="en-GH" sz="2800" b="1" u="sng" dirty="0">
                <a:highlight>
                  <a:srgbClr val="0000FF"/>
                </a:highlight>
              </a:rPr>
              <a:t>Website</a:t>
            </a:r>
            <a:br>
              <a:rPr lang="en-US" sz="2800" b="1" dirty="0"/>
            </a:br>
            <a:br>
              <a:rPr lang="en-US" sz="2800" b="1" dirty="0"/>
            </a:br>
            <a:br>
              <a:rPr lang="en-US" sz="2800" b="1" dirty="0"/>
            </a:br>
            <a:br>
              <a:rPr lang="en-US" sz="2800" b="1" dirty="0"/>
            </a:br>
            <a:br>
              <a:rPr lang="en-US" sz="2800" b="1" dirty="0"/>
            </a:br>
            <a:br>
              <a:rPr lang="en-US" sz="2800" b="1" dirty="0"/>
            </a:br>
            <a:br>
              <a:rPr lang="en-US" sz="2800" b="1" dirty="0"/>
            </a:br>
            <a:br>
              <a:rPr lang="en-US" sz="2800" b="1" dirty="0"/>
            </a:br>
            <a:br>
              <a:rPr lang="en-US" sz="2800" b="1" dirty="0"/>
            </a:br>
            <a:br>
              <a:rPr lang="en-US" sz="2800" b="1" dirty="0"/>
            </a:br>
            <a:br>
              <a:rPr lang="en-US" sz="2800" b="1" dirty="0"/>
            </a:br>
            <a:br>
              <a:rPr lang="en-GH" sz="2800" b="1" dirty="0"/>
            </a:br>
            <a:endParaRPr lang="en-GH" sz="2800" dirty="0"/>
          </a:p>
        </p:txBody>
      </p:sp>
      <p:pic>
        <p:nvPicPr>
          <p:cNvPr id="4" name="Picture 3">
            <a:extLst>
              <a:ext uri="{FF2B5EF4-FFF2-40B4-BE49-F238E27FC236}">
                <a16:creationId xmlns:a16="http://schemas.microsoft.com/office/drawing/2014/main" id="{ADCACC01-FF25-10FD-9FD9-E65D5C541D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61688" y="0"/>
            <a:ext cx="7830312" cy="6784848"/>
          </a:xfrm>
          <a:prstGeom prst="rect">
            <a:avLst/>
          </a:prstGeom>
        </p:spPr>
      </p:pic>
      <p:sp>
        <p:nvSpPr>
          <p:cNvPr id="7" name="Rectangle 6">
            <a:extLst>
              <a:ext uri="{FF2B5EF4-FFF2-40B4-BE49-F238E27FC236}">
                <a16:creationId xmlns:a16="http://schemas.microsoft.com/office/drawing/2014/main" id="{02B93D7A-85C3-055D-DBFD-5A14D67A0640}"/>
              </a:ext>
            </a:extLst>
          </p:cNvPr>
          <p:cNvSpPr/>
          <p:nvPr/>
        </p:nvSpPr>
        <p:spPr>
          <a:xfrm>
            <a:off x="-198120" y="80772"/>
            <a:ext cx="4843272" cy="56967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r>
              <a:rPr lang="en-GH" b="1" dirty="0"/>
            </a:br>
            <a:r>
              <a:rPr lang="en-GH" b="1" dirty="0"/>
              <a:t>Home page </a:t>
            </a:r>
            <a:br>
              <a:rPr lang="en-GH" b="1" dirty="0"/>
            </a:br>
            <a:r>
              <a:rPr lang="en-GH" b="1" dirty="0"/>
              <a:t>Motor Safety Checker </a:t>
            </a:r>
            <a:br>
              <a:rPr lang="en-GH" b="1" dirty="0"/>
            </a:br>
            <a:r>
              <a:rPr lang="en-GH" b="1" dirty="0"/>
              <a:t>About page </a:t>
            </a:r>
            <a:br>
              <a:rPr lang="en-GH" b="1" dirty="0"/>
            </a:br>
            <a:r>
              <a:rPr lang="en-GH" b="1" dirty="0"/>
              <a:t>Report page </a:t>
            </a:r>
            <a:br>
              <a:rPr lang="en-GH" b="1" dirty="0"/>
            </a:br>
            <a:r>
              <a:rPr lang="en-GH" b="1" dirty="0"/>
              <a:t>Mention that the website provides a simple graphical interface that demonstrates the same motor current comparison concept as the C++ application.</a:t>
            </a:r>
            <a:br>
              <a:rPr lang="en-GH" b="1" dirty="0"/>
            </a:br>
            <a:endParaRPr lang="en-GH" b="1" dirty="0"/>
          </a:p>
        </p:txBody>
      </p:sp>
    </p:spTree>
    <p:extLst>
      <p:ext uri="{BB962C8B-B14F-4D97-AF65-F5344CB8AC3E}">
        <p14:creationId xmlns:p14="http://schemas.microsoft.com/office/powerpoint/2010/main" val="17741765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0E9FE-4884-F939-86AF-D63E655FEC06}"/>
              </a:ext>
            </a:extLst>
          </p:cNvPr>
          <p:cNvSpPr>
            <a:spLocks noGrp="1"/>
          </p:cNvSpPr>
          <p:nvPr>
            <p:ph type="ctrTitle"/>
          </p:nvPr>
        </p:nvSpPr>
        <p:spPr>
          <a:xfrm>
            <a:off x="1383555" y="2929128"/>
            <a:ext cx="8825658" cy="3329581"/>
          </a:xfrm>
        </p:spPr>
        <p:txBody>
          <a:bodyPr/>
          <a:lstStyle/>
          <a:p>
            <a:br>
              <a:rPr lang="en-GH" sz="2800" b="1" dirty="0"/>
            </a:br>
            <a:r>
              <a:rPr lang="en-GH" sz="2800" b="1" u="sng" dirty="0" err="1">
                <a:highlight>
                  <a:srgbClr val="0000FF"/>
                </a:highlight>
              </a:rPr>
              <a:t>Conclusion</a:t>
            </a:r>
            <a:br>
              <a:rPr lang="en-GH" sz="2800" b="1" dirty="0"/>
            </a:br>
            <a:r>
              <a:rPr lang="en-GH" sz="2800" dirty="0"/>
              <a:t>The Motor Current Safety Monitoring System successfully compares rated current with measured current to determine whether a motor is operating safely or is overloaded.</a:t>
            </a:r>
            <a:br>
              <a:rPr lang="en-GH" sz="2800" dirty="0"/>
            </a:br>
            <a:r>
              <a:rPr lang="en-GH" sz="2800" dirty="0"/>
              <a:t>The project demonstrates the practical application of C++ programming concepts while solving a real engineering problem. It also includes a companion website to improve accessibility and demonstrate the system through a user-friendly interface.</a:t>
            </a:r>
            <a:br>
              <a:rPr lang="en-GH" sz="2800" dirty="0"/>
            </a:br>
            <a:endParaRPr lang="en-GH" sz="2800" dirty="0"/>
          </a:p>
        </p:txBody>
      </p:sp>
    </p:spTree>
    <p:extLst>
      <p:ext uri="{BB962C8B-B14F-4D97-AF65-F5344CB8AC3E}">
        <p14:creationId xmlns:p14="http://schemas.microsoft.com/office/powerpoint/2010/main" val="20758928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0E9FE-4884-F939-86AF-D63E655FEC06}"/>
              </a:ext>
            </a:extLst>
          </p:cNvPr>
          <p:cNvSpPr>
            <a:spLocks noGrp="1"/>
          </p:cNvSpPr>
          <p:nvPr>
            <p:ph type="ctrTitle"/>
          </p:nvPr>
        </p:nvSpPr>
        <p:spPr/>
        <p:txBody>
          <a:bodyPr/>
          <a:lstStyle/>
          <a:p>
            <a:r>
              <a:rPr lang="en-GH" b="1" dirty="0"/>
              <a:t> Thank </a:t>
            </a:r>
            <a:r>
              <a:rPr lang="en-GH" b="1" dirty="0" err="1"/>
              <a:t>Yo</a:t>
            </a:r>
            <a:r>
              <a:rPr lang="en-GB" b="1" dirty="0"/>
              <a:t>u!!</a:t>
            </a:r>
            <a:br>
              <a:rPr lang="en-GH" b="1" dirty="0"/>
            </a:br>
            <a:endParaRPr lang="en-GH" dirty="0"/>
          </a:p>
        </p:txBody>
      </p:sp>
      <p:sp>
        <p:nvSpPr>
          <p:cNvPr id="3" name="Subtitle 2">
            <a:extLst>
              <a:ext uri="{FF2B5EF4-FFF2-40B4-BE49-F238E27FC236}">
                <a16:creationId xmlns:a16="http://schemas.microsoft.com/office/drawing/2014/main" id="{2006E7AE-75FD-CC9A-7C86-69FDA7D078E5}"/>
              </a:ext>
            </a:extLst>
          </p:cNvPr>
          <p:cNvSpPr>
            <a:spLocks noGrp="1"/>
          </p:cNvSpPr>
          <p:nvPr>
            <p:ph type="subTitle" idx="1"/>
          </p:nvPr>
        </p:nvSpPr>
        <p:spPr/>
        <p:txBody>
          <a:bodyPr/>
          <a:lstStyle/>
          <a:p>
            <a:endParaRPr lang="en-GH"/>
          </a:p>
        </p:txBody>
      </p:sp>
    </p:spTree>
    <p:extLst>
      <p:ext uri="{BB962C8B-B14F-4D97-AF65-F5344CB8AC3E}">
        <p14:creationId xmlns:p14="http://schemas.microsoft.com/office/powerpoint/2010/main" val="17248120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0E9FE-4884-F939-86AF-D63E655FEC06}"/>
              </a:ext>
            </a:extLst>
          </p:cNvPr>
          <p:cNvSpPr>
            <a:spLocks noGrp="1"/>
          </p:cNvSpPr>
          <p:nvPr>
            <p:ph type="ctrTitle"/>
          </p:nvPr>
        </p:nvSpPr>
        <p:spPr>
          <a:xfrm>
            <a:off x="146304" y="0"/>
            <a:ext cx="11932920" cy="6858000"/>
          </a:xfrm>
        </p:spPr>
        <p:txBody>
          <a:bodyPr/>
          <a:lstStyle/>
          <a:p>
            <a:r>
              <a:rPr lang="en-GB" sz="2800"/>
              <a:t>                                    GROUP MEMBERS</a:t>
            </a:r>
            <a:br>
              <a:rPr lang="en-GB" sz="2800"/>
            </a:br>
            <a:br>
              <a:rPr lang="en-GB" sz="2800"/>
            </a:br>
            <a:br>
              <a:rPr lang="en-GB" sz="2800"/>
            </a:br>
            <a:br>
              <a:rPr lang="en-GB" sz="2800"/>
            </a:br>
            <a:br>
              <a:rPr lang="en-GB" sz="2800"/>
            </a:br>
            <a:br>
              <a:rPr lang="en-GB" sz="2800"/>
            </a:br>
            <a:br>
              <a:rPr lang="en-GB" sz="2800"/>
            </a:br>
            <a:br>
              <a:rPr lang="en-GB" sz="2800"/>
            </a:br>
            <a:br>
              <a:rPr lang="en-GB" sz="2800"/>
            </a:br>
            <a:br>
              <a:rPr lang="en-GB" sz="2800"/>
            </a:br>
            <a:br>
              <a:rPr lang="en-GB" sz="2800"/>
            </a:br>
            <a:br>
              <a:rPr lang="en-GB" sz="2800"/>
            </a:br>
            <a:endParaRPr lang="en-GH" sz="2800" dirty="0"/>
          </a:p>
        </p:txBody>
      </p:sp>
    </p:spTree>
    <p:extLst>
      <p:ext uri="{BB962C8B-B14F-4D97-AF65-F5344CB8AC3E}">
        <p14:creationId xmlns:p14="http://schemas.microsoft.com/office/powerpoint/2010/main" val="340662809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397</TotalTime>
  <Words>618</Words>
  <Application>Microsoft Office PowerPoint</Application>
  <PresentationFormat>Widescreen</PresentationFormat>
  <Paragraphs>77</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Century Gothic</vt:lpstr>
      <vt:lpstr>Segoe UI Variable Text</vt:lpstr>
      <vt:lpstr>Wingdings 3</vt:lpstr>
      <vt:lpstr>Ion</vt:lpstr>
      <vt:lpstr>PROJECT PRESENTATION Motor Current Safety Monitoring System Presented by: GROUP 1.8 Department: Electrical and Electronic Engineering  Course: BEE208 – Introduction to Computer Programming Institution: Accra Technical University </vt:lpstr>
      <vt:lpstr> Introduction Electric motors are widely used in industries, homes, and commercial facilities. One of the major causes of motor failure is overloading, where the motor draws more current than it is designed to handle. This project was developed to monitor motor current by comparing the rated current with the measured current and informing the user whether the motor is operating safely or is overloaded.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Challenges Encountered Examples: Understanding file handling.  Managing user input correctly.  Handling invalid menu selections.  Reading and writing reports.  Organizing the program using classes.  </vt:lpstr>
      <vt:lpstr> Lessons Learned Through this project I learned: Object-Oriented Programming  File Handling  Menu-Driven Programming  Input Validation  Debugging  Website Development using HTML, CSS, and JavaScript  Basic Software Development Process  </vt:lpstr>
      <vt:lpstr> Website            </vt:lpstr>
      <vt:lpstr> Conclusion The Motor Current Safety Monitoring System successfully compares rated current with measured current to determine whether a motor is operating safely or is overloaded. The project demonstrates the practical application of C++ programming concepts while solving a real engineering problem. It also includes a companion website to improve accessibility and demonstrate the system through a user-friendly interface. </vt:lpstr>
      <vt:lpstr> Thank You!! </vt:lpstr>
      <vt:lpstr>                                    GROUP MEMBERS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SAMUEL ANANIGO</dc:creator>
  <cp:lastModifiedBy>SAMUEL ANANIGO</cp:lastModifiedBy>
  <cp:revision>4</cp:revision>
  <dcterms:created xsi:type="dcterms:W3CDTF">2026-07-09T06:43:37Z</dcterms:created>
  <dcterms:modified xsi:type="dcterms:W3CDTF">2026-07-10T07:47:48Z</dcterms:modified>
</cp:coreProperties>
</file>